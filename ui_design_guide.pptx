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22440"/>
          </a:solidFill>
          <a:ln w="12700">
            <a:solidFill>
              <a:srgbClr val="1224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03136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645920" cy="1645920"/>
          </a:xfrm>
          <a:prstGeom prst="ellipse">
            <a:avLst/>
          </a:prstGeom>
          <a:solidFill>
            <a:srgbClr val="0E4DA4">
              <a:alpha val="30000"/>
            </a:srgbClr>
          </a:solidFill>
          <a:ln w="12700">
            <a:solidFill>
              <a:srgbClr val="0E4DA4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200400"/>
            <a:ext cx="1097280" cy="1097280"/>
          </a:xfrm>
          <a:prstGeom prst="ellipse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7665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RESERVATION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Guide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50292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Consumer App + Business Dashboard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First  ·  Mobile First  ·  Egypt Market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1554480" cy="292608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MVP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3108960"/>
            <a:ext cx="1554480" cy="292608"/>
          </a:xfrm>
          <a:prstGeom prst="rect">
            <a:avLst>
              <a:gd name="adj" fmla="val 25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RTL Arabic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77640" y="3108960"/>
            <a:ext cx="1554480" cy="292608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Native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March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Covers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" y="1371600"/>
            <a:ext cx="2606040" cy="1261872"/>
          </a:xfrm>
          <a:prstGeom prst="rect">
            <a:avLst>
              <a:gd name="adj" fmla="val 8696"/>
            </a:avLst>
          </a:prstGeom>
          <a:solidFill>
            <a:srgbClr val="0E4DA4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" y="1874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non-negotiable rules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1261872"/>
          </a:xfrm>
          <a:prstGeom prst="rect">
            <a:avLst>
              <a:gd name="adj" fmla="val 8696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874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semantic + category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7648" y="1371600"/>
            <a:ext cx="2606040" cy="1261872"/>
          </a:xfrm>
          <a:prstGeom prst="rect">
            <a:avLst>
              <a:gd name="adj" fmla="val 8696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27648" y="1874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· Inter · scale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2852928"/>
            <a:ext cx="2606040" cy="1261872"/>
          </a:xfrm>
          <a:prstGeom prst="rect">
            <a:avLst>
              <a:gd name="adj" fmla="val 8696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4592" y="2990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4592" y="3355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Grid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8pt base · layout zones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852928"/>
            <a:ext cx="2606040" cy="1261872"/>
          </a:xfrm>
          <a:prstGeom prst="rect">
            <a:avLst>
              <a:gd name="adj" fmla="val 8696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990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46120" y="3355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· inputs · cards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7648" y="2852928"/>
            <a:ext cx="2606040" cy="1261872"/>
          </a:xfrm>
          <a:prstGeom prst="rect">
            <a:avLst>
              <a:gd name="adj" fmla="val 8696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2990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3355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Specs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consumer app screens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4334256"/>
            <a:ext cx="2606040" cy="658368"/>
          </a:xfrm>
          <a:prstGeom prst="rect">
            <a:avLst>
              <a:gd name="adj" fmla="val 1666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44714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46120" y="48371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Handoff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46120" y="51572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" y="141732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417320"/>
            <a:ext cx="54864" cy="1170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764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039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designed RTL. Arabic copy before English. Never translate from LTR.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45536" y="141732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417320"/>
            <a:ext cx="54864" cy="1170432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A4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764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039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375px iPhone SE. Consumer app is iOS/Android native.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54864" cy="1170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91072" y="1764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Clarity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039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refund policy, and cancellation window shown before payment. Zero hidden fees.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83464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2834640"/>
            <a:ext cx="54864" cy="1170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926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" y="345643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CTA per screen. Secondary actions are ghost/text only.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45536" y="283464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2834640"/>
            <a:ext cx="54864" cy="1170432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926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A4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as Respect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345643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screens, not spinners. Optimistic UI. Arabic error messages.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2651760" cy="1170432"/>
          </a:xfrm>
          <a:prstGeom prst="rect">
            <a:avLst>
              <a:gd name="adj" fmla="val 781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34640"/>
            <a:ext cx="54864" cy="1170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926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as Feature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91072" y="345643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model explained to consumers and framed as revenue protection for businesses.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System — Brand Palette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Navy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Brand primary / nav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64208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Blue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Headings / links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45536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CTA Blue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45536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Primary buttons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26864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Teal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Accents / dividers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08192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Teal Light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08192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Highlights (dark bg)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89520" y="1417320"/>
            <a:ext cx="1280160" cy="548640"/>
          </a:xfrm>
          <a:prstGeom prst="rect">
            <a:avLst>
              <a:gd name="adj" fmla="val 13333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1965960"/>
            <a:ext cx="12801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Teal XL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2203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Backgrounds (light)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828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Semantic States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" y="2999232"/>
            <a:ext cx="2011680" cy="512064"/>
          </a:xfrm>
          <a:prstGeom prst="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</a:rPr>
              <a:t>Success bg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" y="3273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4532D"/>
                </a:solidFill>
              </a:rPr>
              <a:t>Confirmed / attended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95728" y="2999232"/>
            <a:ext cx="2011680" cy="512064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95728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Warning bg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3273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350F"/>
                </a:solidFill>
              </a:rPr>
              <a:t>Pending / partial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08576" y="2999232"/>
            <a:ext cx="2011680" cy="512064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1D1D"/>
                </a:solidFill>
              </a:rPr>
              <a:t>Danger bg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8576" y="3273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1D1D"/>
                </a:solidFill>
              </a:rPr>
              <a:t>No-show / failed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21424" y="2999232"/>
            <a:ext cx="2011680" cy="512064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21424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Info bg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21424" y="3273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3A5F"/>
                </a:solidFill>
              </a:rPr>
              <a:t>Informational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" y="3749040"/>
            <a:ext cx="8778240" cy="329184"/>
          </a:xfrm>
          <a:prstGeom prst="rect">
            <a:avLst>
              <a:gd name="adj" fmla="val 1666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Rule: All text on coloured backgrounds must use the darkest shade from the SAME ramp. Never plain black or generic grey.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System — Category Accents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Each service category has its own accent colour — used for chips, profile headers, and notification icons.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719072"/>
            <a:ext cx="1600200" cy="2560320"/>
          </a:xfrm>
          <a:prstGeom prst="rect">
            <a:avLst>
              <a:gd name="adj" fmla="val 685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719072"/>
            <a:ext cx="1600200" cy="822960"/>
          </a:xfrm>
          <a:prstGeom prst="rect">
            <a:avLst>
              <a:gd name="adj" fmla="val 13333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432304"/>
            <a:ext cx="1600200" cy="1097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" y="25968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مطعم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" y="2907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Restaurant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1234440" cy="237744"/>
          </a:xfrm>
          <a:prstGeom prst="rect">
            <a:avLst>
              <a:gd name="adj" fmla="val 23077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FFEDD5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" y="35844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Warm orange = food, appetite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65960" y="1719072"/>
            <a:ext cx="1600200" cy="2560320"/>
          </a:xfrm>
          <a:prstGeom prst="rect">
            <a:avLst>
              <a:gd name="adj" fmla="val 685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65960" y="1719072"/>
            <a:ext cx="1600200" cy="822960"/>
          </a:xfrm>
          <a:prstGeom prst="rect">
            <a:avLst>
              <a:gd name="adj" fmla="val 13333"/>
            </a:avLst>
          </a:prstGeom>
          <a:solidFill>
            <a:srgbClr val="701A75"/>
          </a:solidFill>
          <a:ln w="12700">
            <a:solidFill>
              <a:srgbClr val="701A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432304"/>
            <a:ext cx="1600200" cy="109728"/>
          </a:xfrm>
          <a:prstGeom prst="rect">
            <a:avLst/>
          </a:prstGeom>
          <a:solidFill>
            <a:srgbClr val="701A75"/>
          </a:solidFill>
          <a:ln w="12700">
            <a:solidFill>
              <a:srgbClr val="701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65960" y="25968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صالون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65960" y="2907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Salon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3236976"/>
            <a:ext cx="1234440" cy="237744"/>
          </a:xfrm>
          <a:prstGeom prst="rect">
            <a:avLst>
              <a:gd name="adj" fmla="val 23077"/>
            </a:avLst>
          </a:prstGeom>
          <a:solidFill>
            <a:srgbClr val="FAE8FF"/>
          </a:solidFill>
          <a:ln w="12700">
            <a:solidFill>
              <a:srgbClr val="FA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01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FAE8FF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965960" y="35844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Purple = beauty, luxury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49040" y="1719072"/>
            <a:ext cx="1600200" cy="2560320"/>
          </a:xfrm>
          <a:prstGeom prst="rect">
            <a:avLst>
              <a:gd name="adj" fmla="val 685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1719072"/>
            <a:ext cx="1600200" cy="822960"/>
          </a:xfrm>
          <a:prstGeom prst="rect">
            <a:avLst>
              <a:gd name="adj" fmla="val 13333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2432304"/>
            <a:ext cx="1600200" cy="10972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49040" y="25968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ملعب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49040" y="2907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Sports Court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0" y="3236976"/>
            <a:ext cx="1234440" cy="237744"/>
          </a:xfrm>
          <a:prstGeom prst="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DCFCE7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49040" y="35844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Green = field, outdoor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32120" y="1719072"/>
            <a:ext cx="1600200" cy="2560320"/>
          </a:xfrm>
          <a:prstGeom prst="rect">
            <a:avLst>
              <a:gd name="adj" fmla="val 685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1719072"/>
            <a:ext cx="1600200" cy="822960"/>
          </a:xfrm>
          <a:prstGeom prst="rect">
            <a:avLst>
              <a:gd name="adj" fmla="val 1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2432304"/>
            <a:ext cx="1600200" cy="10972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32120" y="25968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كافيه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32120" y="2907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Gaming Cafe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15000" y="3236976"/>
            <a:ext cx="1234440" cy="237744"/>
          </a:xfrm>
          <a:prstGeom prst="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EDE9FE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32120" y="35844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Indigo = digital, night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0" y="1719072"/>
            <a:ext cx="1600200" cy="2560320"/>
          </a:xfrm>
          <a:prstGeom prst="rect">
            <a:avLst>
              <a:gd name="adj" fmla="val 6857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15200" y="1719072"/>
            <a:ext cx="1600200" cy="822960"/>
          </a:xfrm>
          <a:prstGeom prst="rect">
            <a:avLst>
              <a:gd name="adj" fmla="val 13333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0" y="2432304"/>
            <a:ext cx="1600200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315200" y="25968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غسيل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15200" y="2907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Car Wash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98080" y="3236976"/>
            <a:ext cx="1234440" cy="237744"/>
          </a:xfrm>
          <a:prstGeom prst="rect">
            <a:avLst>
              <a:gd name="adj" fmla="val 2307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E0F2FE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5200" y="35844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Sky blue = clean, water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2743200" cy="694944"/>
          </a:xfrm>
          <a:prstGeom prst="rect">
            <a:avLst>
              <a:gd name="adj" fmla="val 13158"/>
            </a:avLst>
          </a:prstGeom>
          <a:solidFill>
            <a:srgbClr val="122440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A4"/>
                </a:solidFill>
              </a:rPr>
              <a:t>Cairo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682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Arabic primary — all Arabic UI text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1298448"/>
            <a:ext cx="2743200" cy="694944"/>
          </a:xfrm>
          <a:prstGeom prst="rect">
            <a:avLst>
              <a:gd name="adj" fmla="val 13158"/>
            </a:avLst>
          </a:prstGeom>
          <a:solidFill>
            <a:srgbClr val="1224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Inter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968" y="1682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Latin secondary — English content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63056" y="1298448"/>
            <a:ext cx="2743200" cy="694944"/>
          </a:xfrm>
          <a:prstGeom prst="rect">
            <a:avLst>
              <a:gd name="adj" fmla="val 13158"/>
            </a:avLst>
          </a:prstGeom>
          <a:solidFill>
            <a:srgbClr val="12244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JetBrains Mono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1682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Booking refs · codes · numbers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" y="2286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Display / 28px / 700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7360" y="2286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احجز الآن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82880" y="2670048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743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Heading 1 / 22px / 600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2743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مطاعم القاهرة الجديدة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" y="3127248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200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Heading 2 / 18px / 600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7360" y="3200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 الوقت المناسب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3584448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657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Body / 16px / 400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36576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يمكنك إلغاء الحجز خلال ٢٤ ساعة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4041648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Caption / 13px / 400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41148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رقم الحجز: BK-20260415-00142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4498848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Label / 12px / 500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4572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المبلغ المدفوع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Grid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8pt Base Grid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57984"/>
            <a:ext cx="822960" cy="54864"/>
          </a:xfrm>
          <a:prstGeom prst="rect">
            <a:avLst>
              <a:gd name="adj" fmla="val 66667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xs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2121408"/>
            <a:ext cx="822960" cy="91440"/>
          </a:xfrm>
          <a:prstGeom prst="rect">
            <a:avLst>
              <a:gd name="adj" fmla="val 40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61872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32304" y="2084832"/>
            <a:ext cx="822960" cy="128016"/>
          </a:xfrm>
          <a:prstGeom prst="rect">
            <a:avLst>
              <a:gd name="adj" fmla="val 28571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40864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11296" y="2048256"/>
            <a:ext cx="822960" cy="164592"/>
          </a:xfrm>
          <a:prstGeom prst="rect">
            <a:avLst>
              <a:gd name="adj" fmla="val 22222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19856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90288" y="2011680"/>
            <a:ext cx="822960" cy="201168"/>
          </a:xfrm>
          <a:prstGeom prst="rect">
            <a:avLst>
              <a:gd name="adj" fmla="val 18182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98848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1965960"/>
            <a:ext cx="822960" cy="246888"/>
          </a:xfrm>
          <a:prstGeom prst="rect">
            <a:avLst>
              <a:gd name="adj" fmla="val 14815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xl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48272" y="1901952"/>
            <a:ext cx="822960" cy="310896"/>
          </a:xfrm>
          <a:prstGeom prst="rect">
            <a:avLst>
              <a:gd name="adj" fmla="val 11765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2xl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56832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32px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27264" y="1792224"/>
            <a:ext cx="822960" cy="420624"/>
          </a:xfrm>
          <a:prstGeom prst="rect">
            <a:avLst>
              <a:gd name="adj" fmla="val 8696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3xl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35824" y="2505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48px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" y="2871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Screen Layout Zones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3200400"/>
            <a:ext cx="5029200" cy="237744"/>
          </a:xfrm>
          <a:prstGeom prst="rect">
            <a:avLst>
              <a:gd name="adj" fmla="val 15385"/>
            </a:avLst>
          </a:prstGeom>
          <a:solidFill>
            <a:srgbClr val="1224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00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Status Bar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9476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44px (system)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3474720"/>
            <a:ext cx="5029200" cy="310896"/>
          </a:xfrm>
          <a:prstGeom prst="rect">
            <a:avLst>
              <a:gd name="adj" fmla="val 11765"/>
            </a:avLst>
          </a:prstGeom>
          <a:solidFill>
            <a:srgbClr val="16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74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Navigation Header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94760" y="3474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56px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" y="3822192"/>
            <a:ext cx="5029200" cy="502920"/>
          </a:xfrm>
          <a:prstGeom prst="rect">
            <a:avLst>
              <a:gd name="adj" fmla="val 7273"/>
            </a:avLst>
          </a:prstGeom>
          <a:solidFill>
            <a:srgbClr val="0B1D35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221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Scroll Body — Primary Content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94760" y="3822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flex: 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2880" y="4361688"/>
            <a:ext cx="502920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361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Sticky CTA Zone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94760" y="4361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80px + safe area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" y="4672584"/>
            <a:ext cx="5029200" cy="237744"/>
          </a:xfrm>
          <a:prstGeom prst="rect">
            <a:avLst>
              <a:gd name="adj" fmla="val 15385"/>
            </a:avLst>
          </a:prstGeom>
          <a:solidFill>
            <a:srgbClr val="1224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72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Bottom Tab Bar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94760" y="46725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49px + safe area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77840" y="2871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Border Radius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77840" y="3236976"/>
            <a:ext cx="1463040" cy="310896"/>
          </a:xfrm>
          <a:prstGeom prst="rect">
            <a:avLst>
              <a:gd name="adj" fmla="val 11765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2369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50608" y="3236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Buttons, chips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3675888"/>
            <a:ext cx="1463040" cy="310896"/>
          </a:xfrm>
          <a:prstGeom prst="rect">
            <a:avLst>
              <a:gd name="adj" fmla="val 17647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6758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50608" y="3675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Cards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77840" y="4114800"/>
            <a:ext cx="1463040" cy="310896"/>
          </a:xfrm>
          <a:prstGeom prst="rect">
            <a:avLst>
              <a:gd name="adj" fmla="val 23529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50608" y="4114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Modals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4553712"/>
            <a:ext cx="1463040" cy="310896"/>
          </a:xfrm>
          <a:prstGeom prst="rect">
            <a:avLst>
              <a:gd name="adj" fmla="val 70588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4553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5060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Pill / tag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— Buttons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444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Primary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353312"/>
            <a:ext cx="2286000" cy="475488"/>
          </a:xfrm>
          <a:prstGeom prst="rect">
            <a:avLst>
              <a:gd name="adj" fmla="val 15385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353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احجز الآن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408176"/>
            <a:ext cx="4389120" cy="365760"/>
          </a:xfrm>
          <a:prstGeom prst="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408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One per screen max. Full-width on mobile. Payment + booking CTAs.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Secondary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048256"/>
            <a:ext cx="228600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048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التفاصيل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389120" cy="365760"/>
          </a:xfrm>
          <a:prstGeom prst="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Supporting actions alongside primary. Never for payment flows.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Ghost / 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2743200"/>
            <a:ext cx="228600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743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إلغاء الحجز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798064"/>
            <a:ext cx="4389120" cy="365760"/>
          </a:xfrm>
          <a:prstGeom prst="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798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Lowest weight. Never for confirmation or destructive actions.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Destructive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3438144"/>
            <a:ext cx="2286000" cy="475488"/>
          </a:xfrm>
          <a:prstGeom prst="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34381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تأكيد الإلغاء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493008"/>
            <a:ext cx="4389120" cy="365760"/>
          </a:xfrm>
          <a:prstGeom prst="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Only inside confirmation bottom sheet. Never as first-touch action.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Disabled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0" y="4133088"/>
            <a:ext cx="2286000" cy="475488"/>
          </a:xfrm>
          <a:prstGeom prst="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4133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ادفع الآن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4187952"/>
            <a:ext cx="4389120" cy="365760"/>
          </a:xfrm>
          <a:prstGeom prst="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When action unavailable. Show Arabic reason above button.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736592"/>
            <a:ext cx="8686800" cy="27432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350F"/>
                </a:solidFill>
              </a:rPr>
              <a:t>Minimum touch target: 44×44px (Apple HIG). All interactive elements must meet this — even visually smaller elements.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— Key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D35"/>
                </a:solidFill>
              </a:rPr>
              <a:t>Selection Chips — Occasion Selector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91056"/>
            <a:ext cx="1572768" cy="347472"/>
          </a:xfrm>
          <a:prstGeom prst="rect">
            <a:avLst>
              <a:gd name="adj" fmla="val 26316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عيد ميلاد 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11096" y="1591056"/>
            <a:ext cx="1572768" cy="347472"/>
          </a:xfrm>
          <a:prstGeom prst="rect">
            <a:avLst>
              <a:gd name="adj" fmla="val 2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1096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ذكرى سنوية 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93592" y="1591056"/>
            <a:ext cx="1572768" cy="347472"/>
          </a:xfrm>
          <a:prstGeom prst="rect">
            <a:avLst>
              <a:gd name="adj" fmla="val 2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عمل 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76088" y="1591056"/>
            <a:ext cx="1572768" cy="347472"/>
          </a:xfrm>
          <a:prstGeom prst="rect">
            <a:avLst>
              <a:gd name="adj" fmla="val 2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عادي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58584" y="1591056"/>
            <a:ext cx="1572768" cy="347472"/>
          </a:xfrm>
          <a:prstGeom prst="rect">
            <a:avLst>
              <a:gd name="adj" fmla="val 2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أخرى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21214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D35"/>
                </a:solidFill>
              </a:rPr>
              <a:t>Status Badges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414016"/>
            <a:ext cx="1572768" cy="310896"/>
          </a:xfrm>
          <a:prstGeom prst="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4140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</a:rPr>
              <a:t>مؤكد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47672" y="2414016"/>
            <a:ext cx="1572768" cy="310896"/>
          </a:xfrm>
          <a:prstGeom prst="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24140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في الانتظار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66744" y="2414016"/>
            <a:ext cx="1572768" cy="310896"/>
          </a:xfrm>
          <a:prstGeom prst="rect">
            <a:avLst>
              <a:gd name="adj" fmla="val 1764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24140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1D1D"/>
                </a:solidFill>
              </a:rPr>
              <a:t>لم يحضر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85816" y="2414016"/>
            <a:ext cx="1572768" cy="310896"/>
          </a:xfrm>
          <a:prstGeom prst="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85816" y="24140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قيد المراجعة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04888" y="2414016"/>
            <a:ext cx="1572768" cy="310896"/>
          </a:xfrm>
          <a:prstGeom prst="rect">
            <a:avLst>
              <a:gd name="adj" fmla="val 1764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241401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مكتمل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29077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D35"/>
                </a:solidFill>
              </a:rPr>
              <a:t>Booking Progress Stepper (5 steps — RTL Arabic)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18688"/>
            <a:ext cx="402336" cy="402336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" y="3419856"/>
            <a:ext cx="1316736" cy="0"/>
          </a:xfrm>
          <a:prstGeom prst="line">
            <a:avLst/>
          </a:prstGeom>
          <a:noFill/>
          <a:ln w="25400">
            <a:solidFill>
              <a:srgbClr val="0E4DA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93392" y="3218688"/>
            <a:ext cx="402336" cy="402336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395728" y="3419856"/>
            <a:ext cx="1316736" cy="0"/>
          </a:xfrm>
          <a:prstGeom prst="line">
            <a:avLst/>
          </a:prstGeom>
          <a:noFill/>
          <a:ln w="25400">
            <a:solidFill>
              <a:srgbClr val="0E4DA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12464" y="3218688"/>
            <a:ext cx="402336" cy="402336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12464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0" y="3419856"/>
            <a:ext cx="1316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31536" y="3218688"/>
            <a:ext cx="402336" cy="402336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33872" y="3419856"/>
            <a:ext cx="1316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0608" y="3218688"/>
            <a:ext cx="402336" cy="402336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4592" y="3675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المناسبة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883664" y="3675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الموعد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02736" y="3675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التفاصيل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21808" y="3675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الدفع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040880" y="3675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التأكيد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8600" y="4041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D35"/>
                </a:solidFill>
              </a:rPr>
              <a:t>Notification Patterns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4334256"/>
            <a:ext cx="283464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38328" y="4425696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68680" y="4389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تم تأكيد حجزك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68680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سيقانتي — الجمعة ٧:٣٠م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0" y="4334256"/>
            <a:ext cx="283464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310128" y="4425696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⏰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840480" y="4389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تذكير: حجزك بعد ساعتين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40480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لا تنس موعدك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72200" y="4334256"/>
            <a:ext cx="283464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81928" y="4425696"/>
            <a:ext cx="438912" cy="43891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81928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812280" y="4389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D35"/>
                </a:solidFill>
              </a:rPr>
              <a:t>لم تحضر للموعد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12280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تم خصم العربون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— Screen Anatomy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Business profile screen with slot picker — Arabic RTL layout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286000" cy="3291840"/>
          </a:xfrm>
          <a:prstGeom prst="rect">
            <a:avLst>
              <a:gd name="adj" fmla="val 8000"/>
            </a:avLst>
          </a:prstGeom>
          <a:solidFill>
            <a:srgbClr val="1A2A3A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2286000" cy="219456"/>
          </a:xfrm>
          <a:prstGeom prst="rect">
            <a:avLst>
              <a:gd name="adj" fmla="val 83333"/>
            </a:avLst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0512"/>
            <a:ext cx="2286000" cy="54864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٩:٤١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05740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●●●●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2286000" cy="7772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مطعم سيقانتي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التجمع الخامس · مأكولات بحرية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★★★★★  ٤.٨ (١٢٣)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4198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BD5E1"/>
                </a:solidFill>
              </a:rPr>
              <a:t>أقرب المواعيد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640080" cy="237744"/>
          </a:xfrm>
          <a:prstGeom prst="rect">
            <a:avLst>
              <a:gd name="adj" fmla="val 19231"/>
            </a:avLst>
          </a:prstGeom>
          <a:solidFill>
            <a:srgbClr val="1A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57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٦:٠٠م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24712" y="3657600"/>
            <a:ext cx="640080" cy="237744"/>
          </a:xfrm>
          <a:prstGeom prst="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657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٦:٣٠م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37944" y="3657600"/>
            <a:ext cx="640080" cy="237744"/>
          </a:xfrm>
          <a:prstGeom prst="rect">
            <a:avLst>
              <a:gd name="adj" fmla="val 19231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37944" y="3657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٧:٠٠م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640080" cy="237744"/>
          </a:xfrm>
          <a:prstGeom prst="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68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٧:٣٠م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24712" y="3968496"/>
            <a:ext cx="640080" cy="237744"/>
          </a:xfrm>
          <a:prstGeom prst="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3968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٨:٠٠م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37944" y="3968496"/>
            <a:ext cx="640080" cy="237744"/>
          </a:xfrm>
          <a:prstGeom prst="rect">
            <a:avLst>
              <a:gd name="adj" fmla="val 19231"/>
            </a:avLst>
          </a:prstGeom>
          <a:solidFill>
            <a:srgbClr val="1A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37944" y="3968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٨:٣٠م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9768" y="4352544"/>
            <a:ext cx="2066544" cy="347472"/>
          </a:xfrm>
          <a:prstGeom prst="rect">
            <a:avLst>
              <a:gd name="adj" fmla="val 15789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35254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احجز الآن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1783080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578608" y="173736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1691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Arabic RTL layout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19110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direction: rtl on all containers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06040" y="2212848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578608" y="216712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2121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Teal brand accent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23408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Status bar + action colour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606040" y="2578608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578608" y="253288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2487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Arabic numerals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9120" y="27066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٠١٢٣ for UI · 0123 for refs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606040" y="2944368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2578608" y="289864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2852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states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89120" y="30723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Available / Selected / Full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06040" y="3291840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578608" y="324612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3200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CTA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89120" y="3419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Full-width · brand blue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06040" y="3703320"/>
            <a:ext cx="32004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2578608" y="365760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611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Touch target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89120" y="38313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Min 44×44px per element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Layout Rules — Arabic First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069080" cy="2560320"/>
          </a:xfrm>
          <a:prstGeom prst="rect">
            <a:avLst>
              <a:gd name="adj" fmla="val 3571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25880"/>
            <a:ext cx="4069080" cy="329184"/>
          </a:xfrm>
          <a:prstGeom prst="rect">
            <a:avLst>
              <a:gd name="adj" fmla="val 27778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45336"/>
            <a:ext cx="4069080" cy="10972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WRONG — LTR Layout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✕  Back arrow on right side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✕  Text starts from left (wrong)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✕  Progress fills left-to-right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✕  Placeholder: 'Enter your name'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✕  Error message left-aligned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4069080" cy="2560320"/>
          </a:xfrm>
          <a:prstGeom prst="rect">
            <a:avLst>
              <a:gd name="adj" fmla="val 3571"/>
            </a:avLst>
          </a:prstGeom>
          <a:solidFill>
            <a:srgbClr val="0F2A1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25880"/>
            <a:ext cx="4069080" cy="329184"/>
          </a:xfrm>
          <a:prstGeom prst="rect">
            <a:avLst>
              <a:gd name="adj" fmla="val 27778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545336"/>
            <a:ext cx="4069080" cy="10972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3258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CORRECT — RTL Layout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✓  Back arrow on LEFT side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✓  النص يبدأ من اليمين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✓  التقدم يملأ من اليمين لليسار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83480" y="2798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✓  نص تلميح بالعربية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✓  رسالة الخطأ على اليمين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Critical RTL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370832"/>
            <a:ext cx="2743200" cy="566928"/>
          </a:xfrm>
          <a:prstGeom prst="rect">
            <a:avLst>
              <a:gd name="adj" fmla="val 1290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07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Icons: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608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Mirror directional icons (arrows, chevrons). Do NOT mirror search, heart, or profile icons.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4370832"/>
            <a:ext cx="2743200" cy="566928"/>
          </a:xfrm>
          <a:prstGeom prst="rect">
            <a:avLst>
              <a:gd name="adj" fmla="val 1290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407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Numbers: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4608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Arabic-Indic (٠١٢) for UI. Western (012) for booking refs, EGP amounts, and phone numbers.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4370832"/>
            <a:ext cx="2743200" cy="566928"/>
          </a:xfrm>
          <a:prstGeom prst="rect">
            <a:avLst>
              <a:gd name="adj" fmla="val 12903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407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Animations: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608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Pages enter from LEFT in RTL (opposite of LTR). Drawers open from RIGHT.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— 5-Step Booking Journey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Restaurant category example — each category has a tailored journey layer on the same engine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1600200" cy="2926080"/>
          </a:xfrm>
          <a:prstGeom prst="rect">
            <a:avLst>
              <a:gd name="adj" fmla="val 5714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91640"/>
            <a:ext cx="1600200" cy="475488"/>
          </a:xfrm>
          <a:prstGeom prst="rect">
            <a:avLst>
              <a:gd name="adj" fmla="val 19231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057400"/>
            <a:ext cx="1600200" cy="109728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728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" y="17465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المناسبة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95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عيد ميلاد 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07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ذكرى سنوية 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19272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عمل 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831336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عادي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93392" y="1691640"/>
            <a:ext cx="1600200" cy="2926080"/>
          </a:xfrm>
          <a:prstGeom prst="rect">
            <a:avLst>
              <a:gd name="adj" fmla="val 5714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93392" y="1691640"/>
            <a:ext cx="1600200" cy="475488"/>
          </a:xfrm>
          <a:prstGeom prst="rect">
            <a:avLst>
              <a:gd name="adj" fmla="val 1923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2057400"/>
            <a:ext cx="16002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1728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40864" y="17465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الأشخاص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84832" y="2295144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2295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١–٢٠ شخص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84832" y="2807208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2807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حدد العدد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84832" y="3319272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لكل حجز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84832" y="3831336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4832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مع العائلة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58184" y="1691640"/>
            <a:ext cx="1600200" cy="2926080"/>
          </a:xfrm>
          <a:prstGeom prst="rect">
            <a:avLst>
              <a:gd name="adj" fmla="val 5714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58184" y="1691640"/>
            <a:ext cx="1600200" cy="475488"/>
          </a:xfrm>
          <a:prstGeom prst="rect">
            <a:avLst>
              <a:gd name="adj" fmla="val 1923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58184" y="2057400"/>
            <a:ext cx="160020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8184" y="1728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105656" y="17465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 والتاريخ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9624" y="2295144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2295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تقويم متاح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9624" y="2807208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9624" y="2807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المواعيد الحرة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9624" y="3319272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9624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يُعقد الوقت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9624" y="3831336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9624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٨ دقائق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22976" y="1691640"/>
            <a:ext cx="1600200" cy="2926080"/>
          </a:xfrm>
          <a:prstGeom prst="rect">
            <a:avLst>
              <a:gd name="adj" fmla="val 5714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22976" y="1691640"/>
            <a:ext cx="1600200" cy="475488"/>
          </a:xfrm>
          <a:prstGeom prst="rect">
            <a:avLst>
              <a:gd name="adj" fmla="val 1923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22976" y="2057400"/>
            <a:ext cx="16002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22976" y="1728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870448" y="17465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طلبات خاصة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14416" y="2295144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2295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القسم: خارجي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14416" y="2807208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14416" y="2807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حجرة خاصة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614416" y="3319272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14416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طلبات إضافية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614416" y="3831336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14416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ملاحظات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87768" y="1691640"/>
            <a:ext cx="1600200" cy="2926080"/>
          </a:xfrm>
          <a:prstGeom prst="rect">
            <a:avLst>
              <a:gd name="adj" fmla="val 5714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287768" y="1691640"/>
            <a:ext cx="1600200" cy="475488"/>
          </a:xfrm>
          <a:prstGeom prst="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87768" y="2057400"/>
            <a:ext cx="1600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87768" y="1728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٥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635240" y="17465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الملخص والدفع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79208" y="2295144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2295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عرض الإجمالي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379208" y="2807208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9208" y="2807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اختر الدفع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379208" y="3319272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تأكيد فوري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379208" y="3831336"/>
            <a:ext cx="1417320" cy="402336"/>
          </a:xfrm>
          <a:prstGeom prst="rect">
            <a:avLst>
              <a:gd name="adj" fmla="val 13636"/>
            </a:avLst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79208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واتساب ✓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84708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36118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537667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714146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28600" y="4709160"/>
            <a:ext cx="8686800" cy="292608"/>
          </a:xfrm>
          <a:prstGeom prst="rect">
            <a:avLst>
              <a:gd name="adj" fmla="val 18750"/>
            </a:avLst>
          </a:prstGeom>
          <a:solidFill>
            <a:srgbClr val="0A2A12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6EFAC"/>
                </a:solidFill>
              </a:rPr>
              <a:t>📨  On CONFIRMED: WhatsApp sent &lt; 30 seconds · Reminders at 24h + 2h · Review prompt 2h after visit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Interaction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5331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44475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4475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4712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Screen push (→)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1901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New screen enters from LEFT (RTL). Out to right.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44475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4475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350ms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50992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Bottom sheet open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cubic-bezier(.25,.1,.25,1)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64608" y="1901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Slides up from bottom. Backdrop fades to 0.5.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22199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231343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31343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4712" y="23134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Booking step advance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" y="2587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8328" y="27706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Step fills RTL. Content fades up 8px.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31343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31343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50992" y="23134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selection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587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64608" y="27706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Instant fill. Scale 0.96→1.0 spring.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309067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318211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318211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600ms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4712" y="31821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success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8328" y="36393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Checkmark draws in. Booking ref fades. Confetti.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09067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18211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18211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100ms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50992" y="31821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Button press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64608" y="36393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Scale 1.0→0.97 on press-in. Haptic iOS.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395935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" y="405079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40507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1400ms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4712" y="40507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Skeleton shimmer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loop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8328" y="45079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Sweeps RIGHT-TO-LEFT (RTL direction).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3959352"/>
            <a:ext cx="4251960" cy="786384"/>
          </a:xfrm>
          <a:prstGeom prst="rect">
            <a:avLst>
              <a:gd name="adj" fmla="val 9302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64608" y="4050792"/>
            <a:ext cx="694944" cy="219456"/>
          </a:xfrm>
          <a:prstGeom prst="rect">
            <a:avLst>
              <a:gd name="adj" fmla="val 25000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0507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50992" y="40507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Toast / snackbar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64608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ease-out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64608" y="45079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Slides up above tab bar. Auto-dismiss 4s.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4736592"/>
            <a:ext cx="8686800" cy="292608"/>
          </a:xfrm>
          <a:prstGeom prst="rect">
            <a:avLst>
              <a:gd name="adj" fmla="val 18750"/>
            </a:avLst>
          </a:prstGeom>
          <a:solidFill>
            <a:srgbClr val="1A0E2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B5FD"/>
                </a:solidFill>
              </a:rPr>
              <a:t>♿  prefers-reduced-motion: All transitions fall back to opacity fade (100ms). No scale, no translate, no confetti.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92240" y="1298448"/>
            <a:ext cx="2468880" cy="3703320"/>
          </a:xfrm>
          <a:prstGeom prst="rect">
            <a:avLst>
              <a:gd name="adj" fmla="val 3704"/>
            </a:avLst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سيقانتي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</a:rPr>
              <a:t>Growth Plan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37960" y="1993392"/>
            <a:ext cx="2359152" cy="402336"/>
          </a:xfrm>
          <a:prstGeom prst="rect">
            <a:avLst>
              <a:gd name="adj" fmla="val 18182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299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الرئيسية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54203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📅 التقويم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305409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📊 التحليلات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35661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⚙ الإعدادات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D35"/>
                </a:solidFill>
              </a:rPr>
              <a:t>لوحة التحكم — هذا الشهر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1719072"/>
            <a:ext cx="1417320" cy="877824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" y="17922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١٤٢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860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إجمالي الحجوزات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" y="2450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32D"/>
                </a:solidFill>
              </a:rPr>
              <a:t>↑ أعلى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64792" y="1719072"/>
            <a:ext cx="1417320" cy="877824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64792" y="17922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٢,٤٠٠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64792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ج.م عرابين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764792" y="2450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32D"/>
                </a:solidFill>
              </a:rPr>
              <a:t>↑ أعلى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00984" y="1719072"/>
            <a:ext cx="1417320" cy="877824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00984" y="17922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٨٥٠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00984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ج.م محمية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00984" y="2450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32D"/>
                </a:solidFill>
              </a:rPr>
              <a:t>↑ أعلى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37176" y="1719072"/>
            <a:ext cx="1417320" cy="877824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37176" y="17922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٦.٣٪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37176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نسبة الغياب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37176" y="2450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1D1D"/>
                </a:solidFill>
              </a:rPr>
              <a:t>↓ أدنى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" y="279806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D35"/>
                </a:solidFill>
              </a:rPr>
              <a:t>التقويم — اليوم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127248"/>
            <a:ext cx="6035040" cy="329184"/>
          </a:xfrm>
          <a:prstGeom prst="rect">
            <a:avLst>
              <a:gd name="adj" fmla="val 16667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272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٧:٠٠م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محمد علي — ٤ أفراد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529584"/>
            <a:ext cx="6035040" cy="329184"/>
          </a:xfrm>
          <a:prstGeom prst="rect">
            <a:avLst>
              <a:gd name="adj" fmla="val 16667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295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٧:٣٠م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35295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سارة أحمد — ٢ أفراد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931920"/>
            <a:ext cx="6035040" cy="329184"/>
          </a:xfrm>
          <a:prstGeom prst="rect">
            <a:avLst>
              <a:gd name="adj" fmla="val 16667"/>
            </a:avLst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9319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٨:٠٠م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3931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يوسف محمود — ٦ أفراد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334256"/>
            <a:ext cx="6035040" cy="329184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3342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٨:٣٠م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5840" y="43342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(متاح)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" y="47548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RTL: Sidebar renders on the RIGHT side of the screen.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— Engineering Handoff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All values defined as tokens. Engineering references tokens — never raw hex values. Tokens resolve to correct light/dark values automatically.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682496"/>
            <a:ext cx="2834640" cy="1444752"/>
          </a:xfrm>
          <a:prstGeom prst="rect">
            <a:avLst>
              <a:gd name="adj" fmla="val 63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Color — Brand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066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--color-brand-primary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22494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#0E4DA4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23957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--color-brand-teal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25786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#0E7490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2608" y="27249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--color-brand-navy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29077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#0B1D35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46120" y="1682496"/>
            <a:ext cx="2834640" cy="1444752"/>
          </a:xfrm>
          <a:prstGeom prst="rect">
            <a:avLst>
              <a:gd name="adj" fmla="val 63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Typography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066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--font-arabic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55848" y="22494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"Cairo"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55848" y="23957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--font-latin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55848" y="25786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55848" y="27249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--font-mono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55848" y="29077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"JetBrains Mono"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09360" y="1682496"/>
            <a:ext cx="2834640" cy="1444752"/>
          </a:xfrm>
          <a:prstGeom prst="rect">
            <a:avLst>
              <a:gd name="adj" fmla="val 63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Spacing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19088" y="2066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--space-base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19088" y="22494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1rem / 16px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19088" y="23957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--space-xl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19088" y="25786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1.5rem / 24px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19088" y="27249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--space-3xl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19088" y="29077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3rem / 48px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3255264"/>
            <a:ext cx="2834640" cy="1444752"/>
          </a:xfrm>
          <a:prstGeom prst="rect">
            <a:avLst>
              <a:gd name="adj" fmla="val 63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3467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Border Radius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3639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--radius-sm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2608" y="38221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92608" y="3968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--radius-md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92608" y="41513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92608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--radius-pill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92608" y="44805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3255264"/>
            <a:ext cx="2834640" cy="1444752"/>
          </a:xfrm>
          <a:prstGeom prst="rect">
            <a:avLst>
              <a:gd name="adj" fmla="val 63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3467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Motion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55848" y="3639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--duration-base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55848" y="38221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55848" y="3968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--duration-sheet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55848" y="41513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350ms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355848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--easing-standard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55848" y="44805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cubic-bezier(.25,.1,.25,1)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Design-to-Engineering Handoff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353312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481328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737360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Before dev starts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58368" y="1426464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Figma component library — all components Arabic RTL by default, Figma variables for all tokens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6592" y="1353312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81328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737360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Before dev starts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212080" y="1426464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All 5 booking journey prototypes: restaurant, salon, court, gaming, car wash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194560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450592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450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Before dev starts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58368" y="2139696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Business dashboard: calendar, analytics, availability, deposit config — tablet + mobile breakpoints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2066544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194560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2450592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450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Week 1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212080" y="2139696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Design tokens exported as design-tokens.json (React Native + CSS variable formats)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779776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2907792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163824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Week 1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58368" y="285292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Arabic copy reviewed by a native Egyptian Arabic speaker — formal vs informal 'أنت' decision documented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2779776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907792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28432" y="3163824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Before QA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212080" y="285292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Accessibility audit: contrast (WCAG AA min), touch targets (44×44px), Arabic screen reader labels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2880" y="3493008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3621024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0" y="3877056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877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Week 2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58368" y="3566160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Empty states designed for: no bookings, no results, no internet, profile incomplete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36592" y="3493008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621024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28432" y="3877056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3877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Week 2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212080" y="3566160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Motion spec: timing + easing for all transitions, delivered as Figma Smart Animate prototypes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" y="4206240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" y="4334256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4590288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Before launch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58368" y="4279392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Dark mode verified on physical device: iPhone 14 Pro + Samsung Galaxy A54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36592" y="4206240"/>
            <a:ext cx="4315968" cy="640080"/>
          </a:xfrm>
          <a:prstGeom prst="rect">
            <a:avLst>
              <a:gd name="adj" fmla="val 11429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4334256"/>
            <a:ext cx="274320" cy="274320"/>
          </a:xfrm>
          <a:prstGeom prst="rect">
            <a:avLst>
              <a:gd name="adj" fmla="val 13333"/>
            </a:avLst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28432" y="4590288"/>
            <a:ext cx="914400" cy="182880"/>
          </a:xfrm>
          <a:prstGeom prst="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28432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Week 1 (Eng)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212080" y="4279392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Cairo + Inter + JetBrains Mono loaded via CDN, variable font, Arabic + Latin subset only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56032"/>
            <a:ext cx="1645920" cy="274320"/>
          </a:xfrm>
          <a:prstGeom prst="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Category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Each category shares the same booking engine — differentiated by tailored journey, accent colour, and business config fields.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682496"/>
            <a:ext cx="1609344" cy="3218688"/>
          </a:xfrm>
          <a:prstGeom prst="rect">
            <a:avLst>
              <a:gd name="adj" fmla="val 6818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682496"/>
            <a:ext cx="1609344" cy="694944"/>
          </a:xfrm>
          <a:prstGeom prst="rect">
            <a:avLst>
              <a:gd name="adj" fmla="val 15789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267712"/>
            <a:ext cx="1609344" cy="1097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7190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969264" cy="182880"/>
          </a:xfrm>
          <a:prstGeom prst="rect">
            <a:avLst>
              <a:gd name="adj" fmla="val 3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450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مطعم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" y="2724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Restaurant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Journey: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316382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Occasion → Party → Section → Time → Payment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Config: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4320" y="3913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Tables, sections, capacity, slot duration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56816" y="1682496"/>
            <a:ext cx="1609344" cy="3218688"/>
          </a:xfrm>
          <a:prstGeom prst="rect">
            <a:avLst>
              <a:gd name="adj" fmla="val 6818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56816" y="1682496"/>
            <a:ext cx="1609344" cy="694944"/>
          </a:xfrm>
          <a:prstGeom prst="rect">
            <a:avLst>
              <a:gd name="adj" fmla="val 15789"/>
            </a:avLst>
          </a:prstGeom>
          <a:solidFill>
            <a:srgbClr val="701A75"/>
          </a:solidFill>
          <a:ln w="12700">
            <a:solidFill>
              <a:srgbClr val="701A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56816" y="2267712"/>
            <a:ext cx="1609344" cy="109728"/>
          </a:xfrm>
          <a:prstGeom prst="rect">
            <a:avLst/>
          </a:prstGeom>
          <a:solidFill>
            <a:srgbClr val="701A75"/>
          </a:solidFill>
          <a:ln w="12700">
            <a:solidFill>
              <a:srgbClr val="701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56816" y="17190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276856" y="2194560"/>
            <a:ext cx="969264" cy="182880"/>
          </a:xfrm>
          <a:prstGeom prst="rect">
            <a:avLst>
              <a:gd name="adj" fmla="val 3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76856" y="21945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56816" y="2450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صالون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56816" y="2724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Hair Salon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48256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Journey: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48256" y="316382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Service → Add-ons → Stylist → Time → Payment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48256" y="37490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Config: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48256" y="3913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Staff profiles, services per staff, chair count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30752" y="1682496"/>
            <a:ext cx="1609344" cy="3218688"/>
          </a:xfrm>
          <a:prstGeom prst="rect">
            <a:avLst>
              <a:gd name="adj" fmla="val 6818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0752" y="1682496"/>
            <a:ext cx="1609344" cy="694944"/>
          </a:xfrm>
          <a:prstGeom prst="rect">
            <a:avLst>
              <a:gd name="adj" fmla="val 15789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0752" y="2267712"/>
            <a:ext cx="1609344" cy="10972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17190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050792" y="2194560"/>
            <a:ext cx="969264" cy="182880"/>
          </a:xfrm>
          <a:prstGeom prst="rect">
            <a:avLst>
              <a:gd name="adj" fmla="val 30000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0792" y="21945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30752" y="2450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ملعب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30752" y="2724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Sports Court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22192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Journey: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22192" y="316382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Sport → Duration → Time → Players → Equipment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22192" y="37490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Config: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22192" y="3913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Court types, capacity, hourly pricing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04688" y="1682496"/>
            <a:ext cx="1609344" cy="3218688"/>
          </a:xfrm>
          <a:prstGeom prst="rect">
            <a:avLst>
              <a:gd name="adj" fmla="val 6818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04688" y="1682496"/>
            <a:ext cx="1609344" cy="694944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4688" y="2267712"/>
            <a:ext cx="1609344" cy="10972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04688" y="17190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5824728" y="2194560"/>
            <a:ext cx="969264" cy="182880"/>
          </a:xfrm>
          <a:prstGeom prst="rect">
            <a:avLst>
              <a:gd name="adj" fmla="val 30000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24728" y="21945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2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04688" y="2450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كافيه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04688" y="2724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Gaming Cafe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96128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Journey: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96128" y="316382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Session type → Station → Duration → Payment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596128" y="37490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Config: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596128" y="3913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Station inventory, block durations, group rooms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278624" y="1682496"/>
            <a:ext cx="1609344" cy="3218688"/>
          </a:xfrm>
          <a:prstGeom prst="rect">
            <a:avLst>
              <a:gd name="adj" fmla="val 6818"/>
            </a:avLst>
          </a:prstGeom>
          <a:solidFill>
            <a:srgbClr val="1224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78624" y="1682496"/>
            <a:ext cx="1609344" cy="694944"/>
          </a:xfrm>
          <a:prstGeom prst="rect">
            <a:avLst>
              <a:gd name="adj" fmla="val 15789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78624" y="2267712"/>
            <a:ext cx="1609344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78624" y="17190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7598664" y="2194560"/>
            <a:ext cx="969264" cy="182880"/>
          </a:xfrm>
          <a:prstGeom prst="rect">
            <a:avLst>
              <a:gd name="adj" fmla="val 30000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98664" y="21945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2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278624" y="2450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غسيل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78624" y="2724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Car Wash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70064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Journey: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370064" y="316382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Vehicle → Package → Drop-off → Time → Payment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70064" y="37490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Config: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370064" y="3913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Bay count, service packages, vehicle types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22440"/>
          </a:solidFill>
          <a:ln w="12700">
            <a:solidFill>
              <a:srgbClr val="1224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03136" y="0"/>
            <a:ext cx="54864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463040" cy="1463040"/>
          </a:xfrm>
          <a:prstGeom prst="ellipse">
            <a:avLst/>
          </a:prstGeom>
          <a:solidFill>
            <a:srgbClr val="0E4DA4">
              <a:alpha val="30000"/>
            </a:srgbClr>
          </a:solidFill>
          <a:ln w="12700">
            <a:solidFill>
              <a:srgbClr val="0E4DA4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749040"/>
            <a:ext cx="914400" cy="914400"/>
          </a:xfrm>
          <a:prstGeom prst="ellipse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7665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4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969264"/>
            <a:ext cx="36576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25296"/>
            <a:ext cx="347472" cy="347472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1225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4447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Components + variables + Arabic RTL prototypes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347472" cy="347472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1938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1579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design-tokens.json → React Native + Next.js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2651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copy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8712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Native Egyptian reviewer. Formal/informal decision.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3364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sprint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584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Auth, home, search, business profile (restaurant)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078224"/>
            <a:ext cx="347472" cy="347472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" y="40782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297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RTL audit · contrast · touch targets · dark mode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6268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SUPER RESERVATION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UI Design Guide  ·  Phase 1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Design Guide — Phase 1</dc:title>
  <dc:subject>PptxGenJS Presentation</dc:subject>
  <dc:creator>Super Reservation Platform</dc:creator>
  <cp:lastModifiedBy>Super Reservation Platform</cp:lastModifiedBy>
  <cp:revision>1</cp:revision>
  <dcterms:created xsi:type="dcterms:W3CDTF">2026-03-25T08:58:50Z</dcterms:created>
  <dcterms:modified xsi:type="dcterms:W3CDTF">2026-03-25T08:58:50Z</dcterms:modified>
</cp:coreProperties>
</file>